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lide0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lide0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slide0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slide0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slide0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slide0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slide0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slide0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slide0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slide0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558800" y="660400"/>
            <a:ext cx="101700" cy="3174900"/>
          </a:xfrm>
          <a:prstGeom prst="rect">
            <a:avLst/>
          </a:prstGeom>
          <a:solidFill>
            <a:srgbClr val="64CCC5"/>
          </a:solidFill>
          <a:ln cap="flat" cmpd="sng" w="12700">
            <a:solidFill>
              <a:srgbClr val="64CC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990600" y="685800"/>
            <a:ext cx="66039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FFFFFF"/>
                </a:solidFill>
              </a:rPr>
              <a:t>Universal Log</a:t>
            </a:r>
            <a:endParaRPr b="1" sz="4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FFFFFF"/>
                </a:solidFill>
              </a:rPr>
              <a:t>Pre-processing</a:t>
            </a:r>
            <a:endParaRPr b="1" sz="4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FFFFFF"/>
                </a:solidFill>
              </a:rPr>
              <a:t>Framework</a:t>
            </a:r>
            <a:endParaRPr b="1" sz="4000">
              <a:solidFill>
                <a:srgbClr val="FFFFFF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016000" y="3009900"/>
            <a:ext cx="6603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CDEDEE"/>
                </a:solidFill>
              </a:rPr>
              <a:t>Lossless event handling for heterogeneous perimeter devices</a:t>
            </a:r>
            <a:endParaRPr sz="2000">
              <a:solidFill>
                <a:srgbClr val="CDEDEE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016000" y="4267200"/>
            <a:ext cx="55881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BB2C4"/>
                </a:solidFill>
              </a:rPr>
              <a:t>Problem Statement 26156</a:t>
            </a:r>
            <a:endParaRPr sz="1200">
              <a:solidFill>
                <a:srgbClr val="9BB2C4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BB2C4"/>
                </a:solidFill>
              </a:rPr>
              <a:t>Technical architecture and evidence</a:t>
            </a:r>
            <a:endParaRPr sz="1200">
              <a:solidFill>
                <a:srgbClr val="9BB2C4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620000" y="4216400"/>
            <a:ext cx="9906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4CCC5"/>
                </a:solidFill>
              </a:rPr>
              <a:t>ULPF</a:t>
            </a:r>
            <a:endParaRPr b="1" sz="2000">
              <a:solidFill>
                <a:srgbClr val="64CCC5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558800" y="355600"/>
            <a:ext cx="80010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B1F33"/>
                </a:solidFill>
              </a:rPr>
              <a:t>What universal means</a:t>
            </a:r>
            <a:endParaRPr b="1" sz="2800">
              <a:solidFill>
                <a:srgbClr val="0B1F33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635000" y="1168400"/>
            <a:ext cx="38100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0B1F33"/>
                </a:solidFill>
              </a:rPr>
              <a:t>Shared contracts cover transport, evidence, processing, and export.</a:t>
            </a:r>
            <a:endParaRPr b="1" sz="2700">
              <a:solidFill>
                <a:srgbClr val="0B1F33"/>
              </a:solidFill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4953000" y="1016000"/>
            <a:ext cx="3530700" cy="635100"/>
          </a:xfrm>
          <a:prstGeom prst="roundRect">
            <a:avLst>
              <a:gd fmla="val 16667" name="adj"/>
            </a:avLst>
          </a:prstGeom>
          <a:solidFill>
            <a:srgbClr val="EAF6F6"/>
          </a:solidFill>
          <a:ln cap="flat" cmpd="sng" w="12700">
            <a:solidFill>
              <a:srgbClr val="176B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5130800" y="1104900"/>
            <a:ext cx="311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76B87"/>
                </a:solidFill>
              </a:rPr>
              <a:t>Universal ingestion</a:t>
            </a:r>
            <a:endParaRPr b="1" sz="1300">
              <a:solidFill>
                <a:srgbClr val="176B87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5130800" y="1333500"/>
            <a:ext cx="311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B2633"/>
                </a:solidFill>
              </a:rPr>
              <a:t>Protocol listeners and framing adapters</a:t>
            </a:r>
            <a:endParaRPr sz="1100">
              <a:solidFill>
                <a:srgbClr val="1B2633"/>
              </a:solidFill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4953000" y="1879600"/>
            <a:ext cx="3530700" cy="635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76B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5130800" y="1968500"/>
            <a:ext cx="311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76B87"/>
                </a:solidFill>
              </a:rPr>
              <a:t>Universal parsing</a:t>
            </a:r>
            <a:endParaRPr b="1" sz="1300">
              <a:solidFill>
                <a:srgbClr val="176B87"/>
              </a:solidFill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5130800" y="2197100"/>
            <a:ext cx="311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B2633"/>
                </a:solidFill>
              </a:rPr>
              <a:t>Bounded built-ins and declarative bundles</a:t>
            </a:r>
            <a:endParaRPr sz="1100">
              <a:solidFill>
                <a:srgbClr val="1B2633"/>
              </a:solidFill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4953000" y="2743200"/>
            <a:ext cx="3530700" cy="635100"/>
          </a:xfrm>
          <a:prstGeom prst="roundRect">
            <a:avLst>
              <a:gd fmla="val 16667" name="adj"/>
            </a:avLst>
          </a:prstGeom>
          <a:solidFill>
            <a:srgbClr val="EAF6F6"/>
          </a:solidFill>
          <a:ln cap="flat" cmpd="sng" w="12700">
            <a:solidFill>
              <a:srgbClr val="176B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 txBox="1"/>
          <p:nvPr/>
        </p:nvSpPr>
        <p:spPr>
          <a:xfrm>
            <a:off x="5130800" y="2832100"/>
            <a:ext cx="311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76B87"/>
                </a:solidFill>
              </a:rPr>
              <a:t>Semantic mapping</a:t>
            </a:r>
            <a:endParaRPr b="1" sz="1300">
              <a:solidFill>
                <a:srgbClr val="176B87"/>
              </a:solidFill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5130800" y="3060700"/>
            <a:ext cx="311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B2633"/>
                </a:solidFill>
              </a:rPr>
              <a:t>Source-specific tested rules</a:t>
            </a:r>
            <a:endParaRPr sz="1100">
              <a:solidFill>
                <a:srgbClr val="1B2633"/>
              </a:solidFill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4953000" y="3606800"/>
            <a:ext cx="3530700" cy="635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76B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 txBox="1"/>
          <p:nvPr/>
        </p:nvSpPr>
        <p:spPr>
          <a:xfrm>
            <a:off x="5130800" y="3695700"/>
            <a:ext cx="311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76B87"/>
                </a:solidFill>
              </a:rPr>
              <a:t>Unified envelope</a:t>
            </a:r>
            <a:endParaRPr b="1" sz="1300">
              <a:solidFill>
                <a:srgbClr val="176B87"/>
              </a:solidFill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5130800" y="3924300"/>
            <a:ext cx="311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B2633"/>
                </a:solidFill>
              </a:rPr>
              <a:t>Stable lossless schema and provenance</a:t>
            </a:r>
            <a:endParaRPr sz="1100">
              <a:solidFill>
                <a:srgbClr val="1B2633"/>
              </a:solidFill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635000" y="4216400"/>
            <a:ext cx="7848600" cy="685800"/>
          </a:xfrm>
          <a:prstGeom prst="roundRect">
            <a:avLst>
              <a:gd fmla="val 16667" name="adj"/>
            </a:avLst>
          </a:prstGeom>
          <a:solidFill>
            <a:srgbClr val="EAF6F6"/>
          </a:solidFill>
          <a:ln cap="flat" cmpd="sng" w="12700">
            <a:solidFill>
              <a:srgbClr val="64CC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 txBox="1"/>
          <p:nvPr/>
        </p:nvSpPr>
        <p:spPr>
          <a:xfrm>
            <a:off x="838200" y="4406900"/>
            <a:ext cx="7429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B1F33"/>
                </a:solidFill>
              </a:rPr>
              <a:t>Arbitrary proprietary logs still need source knowledge, fixtures, and reviewed mappings.</a:t>
            </a:r>
            <a:endParaRPr b="1" sz="1600">
              <a:solidFill>
                <a:srgbClr val="0B1F3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/>
        </p:nvSpPr>
        <p:spPr>
          <a:xfrm>
            <a:off x="558800" y="355600"/>
            <a:ext cx="80010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B1F33"/>
                </a:solidFill>
              </a:rPr>
              <a:t>Durable event flow</a:t>
            </a:r>
            <a:endParaRPr b="1" sz="2800">
              <a:solidFill>
                <a:srgbClr val="0B1F33"/>
              </a:solidFill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533400" y="1473200"/>
            <a:ext cx="1498500" cy="1295400"/>
          </a:xfrm>
          <a:prstGeom prst="roundRect">
            <a:avLst>
              <a:gd fmla="val 16667" name="adj"/>
            </a:avLst>
          </a:prstGeom>
          <a:solidFill>
            <a:srgbClr val="EAF6F6"/>
          </a:solidFill>
          <a:ln cap="flat" cmpd="sng" w="12700">
            <a:solidFill>
              <a:srgbClr val="176B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660400" y="1600200"/>
            <a:ext cx="35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4CCC5"/>
                </a:solidFill>
              </a:rPr>
              <a:t>01</a:t>
            </a:r>
            <a:endParaRPr b="1" sz="1100">
              <a:solidFill>
                <a:srgbClr val="64CCC5"/>
              </a:solidFill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660400" y="1917700"/>
            <a:ext cx="12447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B1F33"/>
                </a:solidFill>
              </a:rPr>
              <a:t>Frame</a:t>
            </a:r>
            <a:endParaRPr b="1" sz="1800">
              <a:solidFill>
                <a:srgbClr val="0B1F33"/>
              </a:solidFill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660400" y="2298700"/>
            <a:ext cx="1244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26271"/>
                </a:solidFill>
              </a:rPr>
              <a:t>HTTP, UDP, TCP</a:t>
            </a:r>
            <a:endParaRPr sz="1100">
              <a:solidFill>
                <a:srgbClr val="526271"/>
              </a:solidFill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2235200" y="1473200"/>
            <a:ext cx="1498500" cy="1295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76B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5"/>
          <p:cNvSpPr txBox="1"/>
          <p:nvPr/>
        </p:nvSpPr>
        <p:spPr>
          <a:xfrm>
            <a:off x="2362200" y="1600200"/>
            <a:ext cx="35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4CCC5"/>
                </a:solidFill>
              </a:rPr>
              <a:t>02</a:t>
            </a:r>
            <a:endParaRPr b="1" sz="1100">
              <a:solidFill>
                <a:srgbClr val="64CCC5"/>
              </a:solidFill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2362200" y="1917700"/>
            <a:ext cx="12447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B1F33"/>
                </a:solidFill>
              </a:rPr>
              <a:t>Admit</a:t>
            </a:r>
            <a:endParaRPr b="1" sz="1800">
              <a:solidFill>
                <a:srgbClr val="0B1F33"/>
              </a:solidFill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2362200" y="2298700"/>
            <a:ext cx="1244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26271"/>
                </a:solidFill>
              </a:rPr>
              <a:t>raw then receipt</a:t>
            </a:r>
            <a:endParaRPr sz="1100">
              <a:solidFill>
                <a:srgbClr val="526271"/>
              </a:solidFill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3937000" y="1473200"/>
            <a:ext cx="1498500" cy="1295400"/>
          </a:xfrm>
          <a:prstGeom prst="roundRect">
            <a:avLst>
              <a:gd fmla="val 16667" name="adj"/>
            </a:avLst>
          </a:prstGeom>
          <a:solidFill>
            <a:srgbClr val="EAF6F6"/>
          </a:solidFill>
          <a:ln cap="flat" cmpd="sng" w="12700">
            <a:solidFill>
              <a:srgbClr val="176B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5"/>
          <p:cNvSpPr txBox="1"/>
          <p:nvPr/>
        </p:nvSpPr>
        <p:spPr>
          <a:xfrm>
            <a:off x="4064000" y="1600200"/>
            <a:ext cx="35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4CCC5"/>
                </a:solidFill>
              </a:rPr>
              <a:t>03</a:t>
            </a:r>
            <a:endParaRPr b="1" sz="1100">
              <a:solidFill>
                <a:srgbClr val="64CCC5"/>
              </a:solidFill>
            </a:endParaRPr>
          </a:p>
        </p:txBody>
      </p:sp>
      <p:sp>
        <p:nvSpPr>
          <p:cNvPr id="94" name="Google Shape;94;p15"/>
          <p:cNvSpPr txBox="1"/>
          <p:nvPr/>
        </p:nvSpPr>
        <p:spPr>
          <a:xfrm>
            <a:off x="4064000" y="1917700"/>
            <a:ext cx="12447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B1F33"/>
                </a:solidFill>
              </a:rPr>
              <a:t>Interpret</a:t>
            </a:r>
            <a:endParaRPr b="1" sz="1800">
              <a:solidFill>
                <a:srgbClr val="0B1F33"/>
              </a:solidFill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4064000" y="2298700"/>
            <a:ext cx="1244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26271"/>
                </a:solidFill>
              </a:rPr>
              <a:t>detect, parse, map</a:t>
            </a:r>
            <a:endParaRPr sz="1100">
              <a:solidFill>
                <a:srgbClr val="526271"/>
              </a:solidFill>
            </a:endParaRPr>
          </a:p>
        </p:txBody>
      </p:sp>
      <p:sp>
        <p:nvSpPr>
          <p:cNvPr id="96" name="Google Shape;96;p15"/>
          <p:cNvSpPr/>
          <p:nvPr/>
        </p:nvSpPr>
        <p:spPr>
          <a:xfrm>
            <a:off x="5638800" y="1473200"/>
            <a:ext cx="1498500" cy="1295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76B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5"/>
          <p:cNvSpPr txBox="1"/>
          <p:nvPr/>
        </p:nvSpPr>
        <p:spPr>
          <a:xfrm>
            <a:off x="5765800" y="1600200"/>
            <a:ext cx="35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4CCC5"/>
                </a:solidFill>
              </a:rPr>
              <a:t>04</a:t>
            </a:r>
            <a:endParaRPr b="1" sz="1100">
              <a:solidFill>
                <a:srgbClr val="64CCC5"/>
              </a:solidFill>
            </a:endParaRPr>
          </a:p>
        </p:txBody>
      </p:sp>
      <p:sp>
        <p:nvSpPr>
          <p:cNvPr id="98" name="Google Shape;98;p15"/>
          <p:cNvSpPr txBox="1"/>
          <p:nvPr/>
        </p:nvSpPr>
        <p:spPr>
          <a:xfrm>
            <a:off x="5765800" y="1917700"/>
            <a:ext cx="12447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B1F33"/>
                </a:solidFill>
              </a:rPr>
              <a:t>Commit</a:t>
            </a:r>
            <a:endParaRPr b="1" sz="1800">
              <a:solidFill>
                <a:srgbClr val="0B1F33"/>
              </a:solidFill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5765800" y="2298700"/>
            <a:ext cx="1244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26271"/>
                </a:solidFill>
              </a:rPr>
              <a:t>revision and envelope</a:t>
            </a:r>
            <a:endParaRPr sz="1100">
              <a:solidFill>
                <a:srgbClr val="526271"/>
              </a:solidFill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7340600" y="1473200"/>
            <a:ext cx="1498500" cy="1295400"/>
          </a:xfrm>
          <a:prstGeom prst="roundRect">
            <a:avLst>
              <a:gd fmla="val 16667" name="adj"/>
            </a:avLst>
          </a:prstGeom>
          <a:solidFill>
            <a:srgbClr val="EAF6F6"/>
          </a:solidFill>
          <a:ln cap="flat" cmpd="sng" w="12700">
            <a:solidFill>
              <a:srgbClr val="176B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7467600" y="1600200"/>
            <a:ext cx="35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4CCC5"/>
                </a:solidFill>
              </a:rPr>
              <a:t>05</a:t>
            </a:r>
            <a:endParaRPr b="1" sz="1100">
              <a:solidFill>
                <a:srgbClr val="64CCC5"/>
              </a:solidFill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7467600" y="1917700"/>
            <a:ext cx="12447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B1F33"/>
                </a:solidFill>
              </a:rPr>
              <a:t>Deliver</a:t>
            </a:r>
            <a:endParaRPr b="1" sz="1800">
              <a:solidFill>
                <a:srgbClr val="0B1F33"/>
              </a:solidFill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7467600" y="2298700"/>
            <a:ext cx="1244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26271"/>
                </a:solidFill>
              </a:rPr>
              <a:t>query and export</a:t>
            </a:r>
            <a:endParaRPr sz="1100">
              <a:solidFill>
                <a:srgbClr val="526271"/>
              </a:solidFill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533400" y="3200400"/>
            <a:ext cx="8305800" cy="914400"/>
          </a:xfrm>
          <a:prstGeom prst="roundRect">
            <a:avLst>
              <a:gd fmla="val 16667" name="adj"/>
            </a:avLst>
          </a:prstGeom>
          <a:solidFill>
            <a:srgbClr val="0B1F33"/>
          </a:solidFill>
          <a:ln cap="flat" cmpd="sng" w="12700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736600" y="3378200"/>
            <a:ext cx="1397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64CCC5"/>
                </a:solidFill>
              </a:rPr>
              <a:t>Durable rail</a:t>
            </a:r>
            <a:endParaRPr b="1" sz="1700">
              <a:solidFill>
                <a:srgbClr val="64CCC5"/>
              </a:solidFill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2235200" y="3352800"/>
            <a:ext cx="6222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</a:rPr>
              <a:t>Exact bytes, SHA-256, receipt state, leases, revisions, and connector state survive restart.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533400" y="4394200"/>
            <a:ext cx="8305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76B87"/>
                </a:solidFill>
              </a:rPr>
              <a:t>HTTP returns 202 only after evidence and receipt state are durable.</a:t>
            </a:r>
            <a:endParaRPr b="1" sz="1600">
              <a:solidFill>
                <a:srgbClr val="176B8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/>
        </p:nvSpPr>
        <p:spPr>
          <a:xfrm>
            <a:off x="558800" y="355600"/>
            <a:ext cx="80010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B1F33"/>
                </a:solidFill>
              </a:rPr>
              <a:t>Lossless revisions and controlled failure</a:t>
            </a:r>
            <a:endParaRPr b="1" sz="2800">
              <a:solidFill>
                <a:srgbClr val="0B1F33"/>
              </a:solidFill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660400" y="1041400"/>
            <a:ext cx="3530700" cy="444600"/>
          </a:xfrm>
          <a:prstGeom prst="rect">
            <a:avLst/>
          </a:prstGeom>
          <a:solidFill>
            <a:srgbClr val="0B1F33"/>
          </a:solidFill>
          <a:ln cap="flat" cmpd="sng" w="12700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812800" y="1130300"/>
            <a:ext cx="133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Receipt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2133600" y="11303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CDEDEE"/>
                </a:solidFill>
              </a:rPr>
              <a:t>occurrence and acquisition</a:t>
            </a:r>
            <a:endParaRPr sz="1100">
              <a:solidFill>
                <a:srgbClr val="CDEDEE"/>
              </a:solidFill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660400" y="1600200"/>
            <a:ext cx="3530700" cy="444600"/>
          </a:xfrm>
          <a:prstGeom prst="rect">
            <a:avLst/>
          </a:prstGeom>
          <a:solidFill>
            <a:srgbClr val="EAF6F6"/>
          </a:solidFill>
          <a:ln cap="flat" cmpd="sng" w="12700">
            <a:solidFill>
              <a:srgbClr val="176B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812800" y="1689100"/>
            <a:ext cx="133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76B87"/>
                </a:solidFill>
              </a:rPr>
              <a:t>Raw reference</a:t>
            </a:r>
            <a:endParaRPr b="1" sz="1200">
              <a:solidFill>
                <a:srgbClr val="176B87"/>
              </a:solidFill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2133600" y="16891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B2633"/>
                </a:solidFill>
              </a:rPr>
              <a:t>path, size, SHA-256</a:t>
            </a:r>
            <a:endParaRPr sz="1100">
              <a:solidFill>
                <a:srgbClr val="1B2633"/>
              </a:solidFill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660400" y="2159000"/>
            <a:ext cx="3530700" cy="444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76B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812800" y="2247900"/>
            <a:ext cx="133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76B87"/>
                </a:solidFill>
              </a:rPr>
              <a:t>Processing</a:t>
            </a:r>
            <a:endParaRPr b="1" sz="1200">
              <a:solidFill>
                <a:srgbClr val="176B87"/>
              </a:solidFill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2133600" y="22479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B2633"/>
                </a:solidFill>
              </a:rPr>
              <a:t>parser, mapping, schema</a:t>
            </a:r>
            <a:endParaRPr sz="1100">
              <a:solidFill>
                <a:srgbClr val="1B2633"/>
              </a:solidFill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660400" y="2717800"/>
            <a:ext cx="3530700" cy="444600"/>
          </a:xfrm>
          <a:prstGeom prst="rect">
            <a:avLst/>
          </a:prstGeom>
          <a:solidFill>
            <a:srgbClr val="EAF6F6"/>
          </a:solidFill>
          <a:ln cap="flat" cmpd="sng" w="12700">
            <a:solidFill>
              <a:srgbClr val="176B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12800" y="2806700"/>
            <a:ext cx="133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76B87"/>
                </a:solidFill>
              </a:rPr>
              <a:t>Canonical</a:t>
            </a:r>
            <a:endParaRPr b="1" sz="1200">
              <a:solidFill>
                <a:srgbClr val="176B87"/>
              </a:solidFill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2133600" y="28067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B2633"/>
                </a:solidFill>
              </a:rPr>
              <a:t>typed security vocabulary</a:t>
            </a:r>
            <a:endParaRPr sz="1100">
              <a:solidFill>
                <a:srgbClr val="1B2633"/>
              </a:solidFill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660400" y="3276600"/>
            <a:ext cx="3530700" cy="444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76B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12800" y="3365500"/>
            <a:ext cx="133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76B87"/>
                </a:solidFill>
              </a:rPr>
              <a:t>Preserved</a:t>
            </a:r>
            <a:endParaRPr b="1" sz="1200">
              <a:solidFill>
                <a:srgbClr val="176B87"/>
              </a:solidFill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2133600" y="33655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B2633"/>
                </a:solidFill>
              </a:rPr>
              <a:t>source fields retained</a:t>
            </a:r>
            <a:endParaRPr sz="1100">
              <a:solidFill>
                <a:srgbClr val="1B2633"/>
              </a:solidFill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660400" y="3835400"/>
            <a:ext cx="3530700" cy="444600"/>
          </a:xfrm>
          <a:prstGeom prst="rect">
            <a:avLst/>
          </a:prstGeom>
          <a:solidFill>
            <a:srgbClr val="EAF6F6"/>
          </a:solidFill>
          <a:ln cap="flat" cmpd="sng" w="12700">
            <a:solidFill>
              <a:srgbClr val="176B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12800" y="3924300"/>
            <a:ext cx="133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76B87"/>
                </a:solidFill>
              </a:rPr>
              <a:t>Lineage</a:t>
            </a:r>
            <a:endParaRPr b="1" sz="1200">
              <a:solidFill>
                <a:srgbClr val="176B87"/>
              </a:solidFill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2133600" y="39243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B2633"/>
                </a:solidFill>
              </a:rPr>
              <a:t>provenance and quality</a:t>
            </a:r>
            <a:endParaRPr sz="1100">
              <a:solidFill>
                <a:srgbClr val="1B2633"/>
              </a:solidFill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4711700" y="1092200"/>
            <a:ext cx="368400" cy="368400"/>
          </a:xfrm>
          <a:prstGeom prst="roundRect">
            <a:avLst>
              <a:gd fmla="val 16667" name="adj"/>
            </a:avLst>
          </a:prstGeom>
          <a:solidFill>
            <a:srgbClr val="176B87"/>
          </a:solidFill>
          <a:ln cap="flat" cmpd="sng" w="12700">
            <a:solidFill>
              <a:srgbClr val="176B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4775200" y="1155700"/>
            <a:ext cx="241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</a:rPr>
              <a:t>1</a:t>
            </a:r>
            <a:endParaRPr b="1" sz="1100">
              <a:solidFill>
                <a:srgbClr val="FFFFFF"/>
              </a:solidFill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5257800" y="1117600"/>
            <a:ext cx="3174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B1F33"/>
                </a:solidFill>
              </a:rPr>
              <a:t>Reprocess creates a new revision over the same raw evidence.</a:t>
            </a:r>
            <a:endParaRPr b="1" sz="1600">
              <a:solidFill>
                <a:srgbClr val="0B1F33"/>
              </a:solidFill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4711700" y="1968500"/>
            <a:ext cx="368400" cy="368400"/>
          </a:xfrm>
          <a:prstGeom prst="roundRect">
            <a:avLst>
              <a:gd fmla="val 16667" name="adj"/>
            </a:avLst>
          </a:prstGeom>
          <a:solidFill>
            <a:srgbClr val="176B87"/>
          </a:solidFill>
          <a:ln cap="flat" cmpd="sng" w="12700">
            <a:solidFill>
              <a:srgbClr val="176B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4775200" y="2032000"/>
            <a:ext cx="241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</a:rPr>
              <a:t>2</a:t>
            </a:r>
            <a:endParaRPr b="1" sz="1100">
              <a:solidFill>
                <a:srgbClr val="FFFFFF"/>
              </a:solidFill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5257800" y="1993900"/>
            <a:ext cx="3174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B1F33"/>
                </a:solidFill>
              </a:rPr>
              <a:t>Expired leases recover work after restart.</a:t>
            </a:r>
            <a:endParaRPr sz="1600">
              <a:solidFill>
                <a:srgbClr val="0B1F33"/>
              </a:solidFill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4711700" y="2844800"/>
            <a:ext cx="368400" cy="368400"/>
          </a:xfrm>
          <a:prstGeom prst="roundRect">
            <a:avLst>
              <a:gd fmla="val 16667" name="adj"/>
            </a:avLst>
          </a:prstGeom>
          <a:solidFill>
            <a:srgbClr val="176B87"/>
          </a:solidFill>
          <a:ln cap="flat" cmpd="sng" w="12700">
            <a:solidFill>
              <a:srgbClr val="176B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4775200" y="2908300"/>
            <a:ext cx="241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</a:rPr>
              <a:t>3</a:t>
            </a:r>
            <a:endParaRPr b="1" sz="1100">
              <a:solidFill>
                <a:srgbClr val="FFFFFF"/>
              </a:solidFill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5257800" y="2870200"/>
            <a:ext cx="3174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B1F33"/>
                </a:solidFill>
              </a:rPr>
              <a:t>Retry and dead-letter state remain specific to each sink.</a:t>
            </a:r>
            <a:endParaRPr sz="1600">
              <a:solidFill>
                <a:srgbClr val="0B1F33"/>
              </a:solidFill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4711700" y="3571100"/>
            <a:ext cx="368400" cy="368400"/>
          </a:xfrm>
          <a:prstGeom prst="roundRect">
            <a:avLst>
              <a:gd fmla="val 16667" name="adj"/>
            </a:avLst>
          </a:prstGeom>
          <a:solidFill>
            <a:srgbClr val="176B87"/>
          </a:solidFill>
          <a:ln cap="flat" cmpd="sng" w="12700">
            <a:solidFill>
              <a:srgbClr val="176B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4775200" y="3634600"/>
            <a:ext cx="241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</a:rPr>
              <a:t>4</a:t>
            </a:r>
            <a:endParaRPr b="1" sz="1100">
              <a:solidFill>
                <a:srgbClr val="FFFFFF"/>
              </a:solidFill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5257800" y="3596500"/>
            <a:ext cx="3174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B1F33"/>
                </a:solidFill>
              </a:rPr>
              <a:t>Scope and tenant checks separate raw access from event query.</a:t>
            </a:r>
            <a:endParaRPr sz="1600">
              <a:solidFill>
                <a:srgbClr val="0B1F33"/>
              </a:solidFill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660400" y="4559300"/>
            <a:ext cx="7772400" cy="38100"/>
          </a:xfrm>
          <a:prstGeom prst="rect">
            <a:avLst/>
          </a:prstGeom>
          <a:solidFill>
            <a:srgbClr val="64CCC5"/>
          </a:solidFill>
          <a:ln cap="flat" cmpd="sng" w="12700">
            <a:solidFill>
              <a:srgbClr val="64CC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 txBox="1"/>
          <p:nvPr/>
        </p:nvSpPr>
        <p:spPr>
          <a:xfrm>
            <a:off x="558800" y="355600"/>
            <a:ext cx="80010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B1F33"/>
                </a:solidFill>
              </a:rPr>
              <a:t>Prototype evidence and production boundary</a:t>
            </a:r>
            <a:endParaRPr b="1" sz="2800">
              <a:solidFill>
                <a:srgbClr val="0B1F33"/>
              </a:solidFill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635000" y="1041400"/>
            <a:ext cx="33654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76B87"/>
                </a:solidFill>
              </a:rPr>
              <a:t>Implemented evidence</a:t>
            </a:r>
            <a:endParaRPr b="1" sz="1800">
              <a:solidFill>
                <a:srgbClr val="176B87"/>
              </a:solidFill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660400" y="1562100"/>
            <a:ext cx="152400" cy="152400"/>
          </a:xfrm>
          <a:prstGeom prst="rect">
            <a:avLst/>
          </a:prstGeom>
          <a:solidFill>
            <a:srgbClr val="64CCC5"/>
          </a:solidFill>
          <a:ln cap="flat" cmpd="sng" w="12700">
            <a:solidFill>
              <a:srgbClr val="64CC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965200" y="1536700"/>
            <a:ext cx="31749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B2633"/>
                </a:solidFill>
              </a:rPr>
              <a:t>Schema and corpus validation</a:t>
            </a:r>
            <a:endParaRPr b="1">
              <a:solidFill>
                <a:srgbClr val="1B2633"/>
              </a:solidFill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660400" y="2108200"/>
            <a:ext cx="152400" cy="152400"/>
          </a:xfrm>
          <a:prstGeom prst="rect">
            <a:avLst/>
          </a:prstGeom>
          <a:solidFill>
            <a:srgbClr val="64CCC5"/>
          </a:solidFill>
          <a:ln cap="flat" cmpd="sng" w="12700">
            <a:solidFill>
              <a:srgbClr val="64CC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965200" y="2082800"/>
            <a:ext cx="31749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B2633"/>
                </a:solidFill>
              </a:rPr>
              <a:t>Race, fuzz, and fault injection</a:t>
            </a:r>
            <a:endParaRPr>
              <a:solidFill>
                <a:srgbClr val="1B2633"/>
              </a:solidFill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660400" y="2654300"/>
            <a:ext cx="152400" cy="152400"/>
          </a:xfrm>
          <a:prstGeom prst="rect">
            <a:avLst/>
          </a:prstGeom>
          <a:solidFill>
            <a:srgbClr val="64CCC5"/>
          </a:solidFill>
          <a:ln cap="flat" cmpd="sng" w="12700">
            <a:solidFill>
              <a:srgbClr val="64CC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965200" y="2628900"/>
            <a:ext cx="31749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B2633"/>
                </a:solidFill>
              </a:rPr>
              <a:t>HTTP and Syslog transports</a:t>
            </a:r>
            <a:endParaRPr>
              <a:solidFill>
                <a:srgbClr val="1B2633"/>
              </a:solidFill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660400" y="3200400"/>
            <a:ext cx="152400" cy="152400"/>
          </a:xfrm>
          <a:prstGeom prst="rect">
            <a:avLst/>
          </a:prstGeom>
          <a:solidFill>
            <a:srgbClr val="64CCC5"/>
          </a:solidFill>
          <a:ln cap="flat" cmpd="sng" w="12700">
            <a:solidFill>
              <a:srgbClr val="64CC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965200" y="3175000"/>
            <a:ext cx="31749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B2633"/>
                </a:solidFill>
              </a:rPr>
              <a:t>ClickHouse, NDJSON, and HTTP outputs</a:t>
            </a:r>
            <a:endParaRPr>
              <a:solidFill>
                <a:srgbClr val="1B2633"/>
              </a:solidFill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660400" y="3746500"/>
            <a:ext cx="152400" cy="152400"/>
          </a:xfrm>
          <a:prstGeom prst="rect">
            <a:avLst/>
          </a:prstGeom>
          <a:solidFill>
            <a:srgbClr val="64CCC5"/>
          </a:solidFill>
          <a:ln cap="flat" cmpd="sng" w="12700">
            <a:solidFill>
              <a:srgbClr val="64CC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965200" y="3721100"/>
            <a:ext cx="31749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B2633"/>
                </a:solidFill>
              </a:rPr>
              <a:t>Hardened Compose and offline archive</a:t>
            </a:r>
            <a:endParaRPr>
              <a:solidFill>
                <a:srgbClr val="1B2633"/>
              </a:solidFill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4635500" y="990600"/>
            <a:ext cx="3962400" cy="3098700"/>
          </a:xfrm>
          <a:prstGeom prst="roundRect">
            <a:avLst>
              <a:gd fmla="val 16667" name="adj"/>
            </a:avLst>
          </a:prstGeom>
          <a:solidFill>
            <a:srgbClr val="EAF6F6"/>
          </a:solidFill>
          <a:ln cap="flat" cmpd="sng" w="12700">
            <a:solidFill>
              <a:srgbClr val="176B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4902200" y="1219200"/>
            <a:ext cx="3174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B1F33"/>
                </a:solidFill>
              </a:rPr>
              <a:t>Two-minute proof</a:t>
            </a:r>
            <a:endParaRPr b="1" sz="2000">
              <a:solidFill>
                <a:srgbClr val="0B1F33"/>
              </a:solidFill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4864100" y="1778000"/>
            <a:ext cx="355500" cy="355500"/>
          </a:xfrm>
          <a:prstGeom prst="roundRect">
            <a:avLst>
              <a:gd fmla="val 16667" name="adj"/>
            </a:avLst>
          </a:prstGeom>
          <a:solidFill>
            <a:srgbClr val="176B87"/>
          </a:solidFill>
          <a:ln cap="flat" cmpd="sng" w="12700">
            <a:solidFill>
              <a:srgbClr val="176B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4940300" y="1828800"/>
            <a:ext cx="203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5384800" y="1803400"/>
            <a:ext cx="285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B2633"/>
                </a:solidFill>
              </a:rPr>
              <a:t>Admit a perimeter event</a:t>
            </a:r>
            <a:endParaRPr b="1">
              <a:solidFill>
                <a:srgbClr val="1B2633"/>
              </a:solidFill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4864100" y="2311400"/>
            <a:ext cx="355500" cy="355500"/>
          </a:xfrm>
          <a:prstGeom prst="roundRect">
            <a:avLst>
              <a:gd fmla="val 16667" name="adj"/>
            </a:avLst>
          </a:prstGeom>
          <a:solidFill>
            <a:srgbClr val="176B87"/>
          </a:solidFill>
          <a:ln cap="flat" cmpd="sng" w="12700">
            <a:solidFill>
              <a:srgbClr val="176B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4940300" y="2362200"/>
            <a:ext cx="203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5384800" y="2336800"/>
            <a:ext cx="285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B2633"/>
                </a:solidFill>
              </a:rPr>
              <a:t>Inspect receipt and raw hash</a:t>
            </a:r>
            <a:endParaRPr>
              <a:solidFill>
                <a:srgbClr val="1B2633"/>
              </a:solidFill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4864100" y="2844800"/>
            <a:ext cx="355500" cy="355500"/>
          </a:xfrm>
          <a:prstGeom prst="roundRect">
            <a:avLst>
              <a:gd fmla="val 16667" name="adj"/>
            </a:avLst>
          </a:prstGeom>
          <a:solidFill>
            <a:srgbClr val="176B87"/>
          </a:solidFill>
          <a:ln cap="flat" cmpd="sng" w="12700">
            <a:solidFill>
              <a:srgbClr val="176B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4940300" y="2895600"/>
            <a:ext cx="203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5384800" y="2870200"/>
            <a:ext cx="285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B2633"/>
                </a:solidFill>
              </a:rPr>
              <a:t>Query its immutable envelope</a:t>
            </a:r>
            <a:endParaRPr>
              <a:solidFill>
                <a:srgbClr val="1B2633"/>
              </a:solidFill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4864100" y="3378200"/>
            <a:ext cx="355500" cy="355500"/>
          </a:xfrm>
          <a:prstGeom prst="roundRect">
            <a:avLst>
              <a:gd fmla="val 16667" name="adj"/>
            </a:avLst>
          </a:prstGeom>
          <a:solidFill>
            <a:srgbClr val="176B87"/>
          </a:solidFill>
          <a:ln cap="flat" cmpd="sng" w="12700">
            <a:solidFill>
              <a:srgbClr val="176B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4940300" y="3429000"/>
            <a:ext cx="203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5384800" y="3403600"/>
            <a:ext cx="285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B2633"/>
                </a:solidFill>
              </a:rPr>
              <a:t>Interrupt a sink, then replay</a:t>
            </a:r>
            <a:endParaRPr>
              <a:solidFill>
                <a:srgbClr val="1B2633"/>
              </a:solidFill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635000" y="4368800"/>
            <a:ext cx="7962900" cy="469800"/>
          </a:xfrm>
          <a:prstGeom prst="roundRect">
            <a:avLst>
              <a:gd fmla="val 16667" name="adj"/>
            </a:avLst>
          </a:prstGeom>
          <a:solidFill>
            <a:srgbClr val="0B1F33"/>
          </a:solidFill>
          <a:ln cap="flat" cmpd="sng" w="12700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838200" y="4495800"/>
            <a:ext cx="7569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</a:rPr>
              <a:t>Scale claims require measured partitions and replicas. This report covers one host.</a:t>
            </a:r>
            <a:endParaRPr b="1" sz="13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